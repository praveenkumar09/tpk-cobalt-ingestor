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Orbit, AIA's knowledge copilot. Here's what I do, in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that run our business live in old COBOL programs. Only a few specialists can read them, so a hard question takes seven to fifteen days, and the knowledge walks out when they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me in plain English. Choose a business view or a technical view, watch the answer stream in live, and I'll suggest what to ask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make the rules visible: business rules, decision tables, process flows and a data dictionary, all built from the code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a real scenario to me. I trace it step by step through the programs and show the outcome, in minutes, not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answer cites the programs behind it, and you can open the code. Guards block prompt injection and personal-data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anything changes, I show what it would touch: directly, also, and downstream, in an impact map and a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I draft the functional requirement and the test scenarios, from how the system really behaves, ready to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coding agent goes further. It finds the place, writes the change, checks it with a real COBOL compiler, and a person reviews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built to run as a service: sign-in, history, admin insights on quality and usage, and security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business owners, answers on demand. For specialists, fewer repeat questions. For AIA, faster change, lower risk and a stronger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timing is right. Seventy percent of business transactions are said to run on COBOL, and MAS is proposing tighter change controls. A hundred routine questions a month is about two hundred hours back, an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prove it together. Just ask Orbit.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75500" y="1714500"/>
            <a:ext cx="4572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ORBIT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175500" y="2032000"/>
            <a:ext cx="4572000" cy="2095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</a:t>
            </a:r>
            <a:pPr indent="0" marL="0">
              <a:buNone/>
            </a:pPr>
            <a:r>
              <a:rPr lang="en-US" sz="54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pPr indent="0" marL="0">
              <a:buNone/>
            </a:pPr>
            <a:r>
              <a:rPr lang="en-US" sz="5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itself.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175500" y="4191000"/>
            <a:ext cx="4572000" cy="825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Orbit: a knowledge copilot for our COBOL core systems. Ask, understand, plan, propose. A person decides.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tpk-cobalt-ingestor/video/source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are locked in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code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tpk-cobalt-ingestor/video/source/pptx-assets/lock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few can read it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live in COBOL programs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tpk-cobalt-ingestor/video/source/pptx-assets/clock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to 15 days per hard question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by hand, by a small specialist team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tpk-cobalt-ingestor/video/source/pptx-assets/users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walks out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Retirements and role changes take it with them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tpk-cobalt-ingestor/video/source/pptx-assets/alert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is planned in the dark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is found late, after the work has started</a:t>
            </a:r>
            <a:endParaRPr lang="en-US" sz="2000" dirty="0"/>
          </a:p>
        </p:txBody>
      </p:sp>
      <p:pic>
        <p:nvPicPr>
          <p:cNvPr id="23" name="Image 5" descr="/Users/praveenkumarthangaraj/Documents/CobaltIngestion/tpk-cobalt-ingestor/video/source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tpk-cobalt-ingestor/video/source/pptx-assets/ale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Slow, risky, dependent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waits in a queue, and the change that follows is hard to scope.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7937500" y="5613400"/>
            <a:ext cx="3644900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to 15 days is the COBOL team's estimate of elapsed time, not effort.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tpk-cobalt-ingestor/video/source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English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tpk-cobalt-ingestor/video/source/pptx-assets/message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knowledge needed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question, with no ticket and no queue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tpk-cobalt-ingestor/video/source/pptx-assets/eye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or Tech view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language for owners, full detail for engineers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tpk-cobalt-ingestor/video/source/pptx-assets/bolt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stream in live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switch to a complete answer at once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tpk-cobalt-ingestor/video/source/pptx-assets/sparkle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questions suggested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 offered after every answer</a:t>
            </a:r>
            <a:endParaRPr lang="en-US" sz="2000" dirty="0"/>
          </a:p>
        </p:txBody>
      </p:sp>
      <p:pic>
        <p:nvPicPr>
          <p:cNvPr id="23" name="Image 5" descr="/Users/praveenkumarthangaraj/Documents/CobaltIngestion/tpk-cobalt-ingestor/video/source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tpk-cobalt-ingestor/video/source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on demand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owners serve themselves, and specialists stop being a help desk.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tpk-cobalt-ingestor/video/source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MADE VISIBLE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logic becomes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tpk-cobalt-ingestor/video/source/pptx-assets/book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rules drawn from the code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tpk-cobalt-ingestor/video/source/pptx-assets/table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tables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and outcomes in one grid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tpk-cobalt-ingestor/video/source/pptx-assets/network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flow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diagram of how the process runs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tpk-cobalt-ingestor/video/source/pptx-assets/file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 and relationships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Fields, and which programs share what</a:t>
            </a:r>
            <a:endParaRPr lang="en-US" sz="2000" dirty="0"/>
          </a:p>
        </p:txBody>
      </p:sp>
      <p:pic>
        <p:nvPicPr>
          <p:cNvPr id="23" name="Image 5" descr="/Users/praveenkumarthangaraj/Documents/CobaltIngestion/tpk-cobalt-ingestor/video/source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tpk-cobalt-ingestor/video/source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the business can read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logic is no longer visible only to the people who write COBOL.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tpk-cobalt-ingestor/video/source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WALKTHROUGH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a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</a:t>
            </a:r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real logic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tpk-cobalt-ingestor/video/source/pptx-assets/target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 real case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situation, in your own words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tpk-cobalt-ingestor/video/source/pptx-assets/refresh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 step by step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condition and result, through the programs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tpk-cobalt-ingestor/video/source/pptx-assets/check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outcome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code reference behind each step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tpk-cobalt-ingestor/video/source/pptx-assets/bolt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Minutes, not days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confirmed with AIA's own cases in the pilot</a:t>
            </a:r>
            <a:endParaRPr lang="en-US" sz="2000" dirty="0"/>
          </a:p>
        </p:txBody>
      </p:sp>
      <p:pic>
        <p:nvPicPr>
          <p:cNvPr id="23" name="Image 5" descr="/Users/praveenkumarthangaraj/Documents/CobaltIngestion/tpk-cobalt-ingestor/video/source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tpk-cobalt-ingestor/video/source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 situation first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a case behaves before it reaches a specialist.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7937500" y="5613400"/>
            <a:ext cx="3644900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"Minutes" is to be confirmed in the pilot.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tpk-cobalt-ingestor/video/source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AND SAFE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you can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tpk-cobalt-ingestor/video/source/pptx-assets/search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citations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lists the programs behind it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tpk-cobalt-ingestor/video/source/pptx-assets/code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code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exact source from any citation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tpk-cobalt-ingestor/video/source/pptx-assets/heart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Like, regenerate, improve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to make the next answer better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tpk-cobalt-ingestor/video/source/pptx-assets/shield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built in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Prompt-injection filter, personal-data checks, rate limits</a:t>
            </a:r>
            <a:endParaRPr lang="en-US" sz="2000" dirty="0"/>
          </a:p>
        </p:txBody>
      </p:sp>
      <p:pic>
        <p:nvPicPr>
          <p:cNvPr id="23" name="Image 5" descr="/Users/praveenkumarthangaraj/Documents/CobaltIngestion/tpk-cobalt-ingestor/video/source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tpk-cobalt-ingestor/video/source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Verifiable, not black-box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and auditors can check any answer back to the code.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tpk-cobalt-ingestor/video/source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a change will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tpk-cobalt-ingestor/video/source/pptx-assets/network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Directly, also, downstream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affected, in layers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tpk-cobalt-ingestor/video/source/pptx-assets/target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map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picture of the ripple from one change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tpk-cobalt-ingestor/video/source/pptx-assets/file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impact report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 to open, review and share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tpk-cobalt-ingestor/video/source/pptx-assets/code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as a change request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appears in Tech view when you ask for a change</a:t>
            </a:r>
            <a:endParaRPr lang="en-US" sz="2000" dirty="0"/>
          </a:p>
        </p:txBody>
      </p:sp>
      <p:pic>
        <p:nvPicPr>
          <p:cNvPr id="23" name="Image 5" descr="/Users/praveenkumarthangaraj/Documents/CobaltIngestion/tpk-cobalt-ingestor/video/source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tpk-cobalt-ingestor/video/source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before you commit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risk are seen before the work begins, not after.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tpk-cobalt-ingestor/video/source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AND TESTS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draft that matches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tpk-cobalt-ingestor/video/source/pptx-assets/file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Drafted from how the system really behaves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tpk-cobalt-ingestor/video/source/pptx-assets/check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scenarios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the rules and the decision table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tpk-cobalt-ingestor/video/source/pptx-assets/book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export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as documents for the project team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tpk-cobalt-ingestor/video/source/pptx-assets/search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the code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from memory, and not from a stale document</a:t>
            </a:r>
            <a:endParaRPr lang="en-US" sz="2000" dirty="0"/>
          </a:p>
        </p:txBody>
      </p:sp>
      <p:pic>
        <p:nvPicPr>
          <p:cNvPr id="23" name="Image 5" descr="/Users/praveenkumarthangaraj/Documents/CobaltIngestion/tpk-cobalt-ingestor/video/source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tpk-cobalt-ingestor/video/source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requirements, faster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start from a draft that matches the system, so fewer surprises later.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tpk-cobalt-ingestor/video/source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question to a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proposal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tpk-cobalt-ingestor/video/source/pptx-assets/search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Locates the right place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in a program too large to read whole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tpk-cobalt-ingestor/video/source/pptx-assets/code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the change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the question and the answer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tpk-cobalt-ingestor/video/source/pptx-assets/shield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Compiler-checked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through a real COBOL compiler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tpk-cobalt-ingestor/video/source/pptx-assets/users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reviews the diff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side-by-side comparison, and nothing is applied for them</a:t>
            </a:r>
            <a:endParaRPr lang="en-US" sz="2000" dirty="0"/>
          </a:p>
        </p:txBody>
      </p:sp>
      <p:pic>
        <p:nvPicPr>
          <p:cNvPr id="23" name="Image 5" descr="/Users/praveenkumarthangaraj/Documents/CobaltIngestion/tpk-cobalt-ingestor/video/source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tpk-cobalt-ingestor/video/source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head start on change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review a checked proposal instead of starting from a blank file.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tpk-cobalt-ingestor/video/source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RUN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like a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tpk-cobalt-ingestor/video/source/pptx-assets/lock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accounts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person has their own space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tpk-cobalt-ingestor/video/source/pptx-assets/refresh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and branches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a conversation, or branch an answer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tpk-cobalt-ingestor/video/source/pptx-assets/gauge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insights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quality, usage and system health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tpk-cobalt-ingestor/video/source/pptx-assets/alert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monitoring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attempts and personal-data requests are tracked</a:t>
            </a:r>
            <a:endParaRPr lang="en-US" sz="2000" dirty="0"/>
          </a:p>
        </p:txBody>
      </p:sp>
      <p:pic>
        <p:nvPicPr>
          <p:cNvPr id="23" name="Image 5" descr="/Users/praveenkumarthangaraj/Documents/CobaltIngestion/tpk-cobalt-ingestor/video/source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tpk-cobalt-ingestor/video/source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Managed, measurable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see usage, quality and risk, not just a chat box.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tpk-cobalt-ingestor/video/source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 FOR AIA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for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5054600" cy="1714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63600" y="2133600"/>
            <a:ext cx="482600" cy="482600"/>
          </a:xfrm>
          <a:prstGeom prst="roundRect">
            <a:avLst>
              <a:gd name="adj" fmla="val 28421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tpk-cobalt-ingestor/video/source/pptx-assets/message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22479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3600" y="2692400"/>
            <a:ext cx="4546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owners</a:t>
            </a:r>
            <a:endParaRPr lang="en-US" sz="2600" dirty="0"/>
          </a:p>
        </p:txBody>
      </p:sp>
      <p:sp>
        <p:nvSpPr>
          <p:cNvPr id="11" name="Text 6"/>
          <p:cNvSpPr/>
          <p:nvPr/>
        </p:nvSpPr>
        <p:spPr>
          <a:xfrm>
            <a:off x="863600" y="3048000"/>
            <a:ext cx="454660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on demand, with no queue.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842000" y="1905000"/>
            <a:ext cx="5054600" cy="1714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096000" y="2133600"/>
            <a:ext cx="482600" cy="482600"/>
          </a:xfrm>
          <a:prstGeom prst="roundRect">
            <a:avLst>
              <a:gd name="adj" fmla="val 28421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4" name="Image 2" descr="/Users/praveenkumarthangaraj/Documents/CobaltIngestion/tpk-cobalt-ingestor/video/source/pptx-assets/users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247900"/>
            <a:ext cx="254000" cy="254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96000" y="2692400"/>
            <a:ext cx="4546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</a:t>
            </a:r>
            <a:endParaRPr lang="en-US" sz="2600" dirty="0"/>
          </a:p>
        </p:txBody>
      </p:sp>
      <p:sp>
        <p:nvSpPr>
          <p:cNvPr id="16" name="Text 10"/>
          <p:cNvSpPr/>
          <p:nvPr/>
        </p:nvSpPr>
        <p:spPr>
          <a:xfrm>
            <a:off x="6096000" y="3048000"/>
            <a:ext cx="454660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repeat questions, more engineering.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09600" y="3784600"/>
            <a:ext cx="5054600" cy="1714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63600" y="4013200"/>
            <a:ext cx="482600" cy="482600"/>
          </a:xfrm>
          <a:prstGeom prst="roundRect">
            <a:avLst>
              <a:gd name="adj" fmla="val 28421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9" name="Image 3" descr="/Users/praveenkumarthangaraj/Documents/CobaltIngestion/tpk-cobalt-ingestor/video/source/pptx-assets/bolt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" y="4127500"/>
            <a:ext cx="254000" cy="2540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3600" y="4572000"/>
            <a:ext cx="4546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2600" dirty="0"/>
          </a:p>
        </p:txBody>
      </p:sp>
      <p:sp>
        <p:nvSpPr>
          <p:cNvPr id="21" name="Text 14"/>
          <p:cNvSpPr/>
          <p:nvPr/>
        </p:nvSpPr>
        <p:spPr>
          <a:xfrm>
            <a:off x="863600" y="4927600"/>
            <a:ext cx="454660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change, with less risk.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842000" y="3784600"/>
            <a:ext cx="5054600" cy="1714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096000" y="4013200"/>
            <a:ext cx="482600" cy="482600"/>
          </a:xfrm>
          <a:prstGeom prst="roundRect">
            <a:avLst>
              <a:gd name="adj" fmla="val 28421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4" name="Image 4" descr="/Users/praveenkumarthangaraj/Documents/CobaltIngestion/tpk-cobalt-ingestor/video/source/pptx-assets/shield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127500"/>
            <a:ext cx="254000" cy="2540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096000" y="4572000"/>
            <a:ext cx="4546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and audit</a:t>
            </a:r>
            <a:endParaRPr lang="en-US" sz="2600" dirty="0"/>
          </a:p>
        </p:txBody>
      </p:sp>
      <p:sp>
        <p:nvSpPr>
          <p:cNvPr id="26" name="Text 18"/>
          <p:cNvSpPr/>
          <p:nvPr/>
        </p:nvSpPr>
        <p:spPr>
          <a:xfrm>
            <a:off x="6096000" y="4927600"/>
            <a:ext cx="454660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stronger audit trail, traced to code.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tpk-cobalt-ingestor/video/source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stay. </a:t>
            </a:r>
            <a:pPr indent="0" marL="0">
              <a:buNone/>
            </a:pPr>
            <a:r>
              <a:rPr lang="en-US" sz="4000" b="1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scarce.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2628900" cy="2794000"/>
          </a:xfrm>
          <a:prstGeom prst="roundRect">
            <a:avLst>
              <a:gd name="adj" fmla="val 765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3600" y="2184400"/>
            <a:ext cx="21209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863600" y="3302000"/>
            <a:ext cx="21209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business transactions worldwide are said to run on COBOL (IBM-cited).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390900" y="1905000"/>
            <a:ext cx="2628900" cy="2794000"/>
          </a:xfrm>
          <a:prstGeom prst="roundRect">
            <a:avLst>
              <a:gd name="adj" fmla="val 765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44900" y="2184400"/>
            <a:ext cx="21209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≈15%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3644900" y="3302000"/>
            <a:ext cx="21209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2026 IT-spend growth for Asia-Pacific life insurers (Celent).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172200" y="1905000"/>
            <a:ext cx="2628900" cy="2794000"/>
          </a:xfrm>
          <a:prstGeom prst="roundRect">
            <a:avLst>
              <a:gd name="adj" fmla="val 765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26200" y="2184400"/>
            <a:ext cx="21209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</a:t>
            </a:r>
            <a:endParaRPr lang="en-US" sz="4800" dirty="0"/>
          </a:p>
        </p:txBody>
      </p:sp>
      <p:sp>
        <p:nvSpPr>
          <p:cNvPr id="15" name="Text 11"/>
          <p:cNvSpPr/>
          <p:nvPr/>
        </p:nvSpPr>
        <p:spPr>
          <a:xfrm>
            <a:off x="6426200" y="3302000"/>
            <a:ext cx="21209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 tighter change-management controls for insurers; 12 months to comply once final.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953500" y="1905000"/>
            <a:ext cx="2628900" cy="2794000"/>
          </a:xfrm>
          <a:prstGeom prst="roundRect">
            <a:avLst>
              <a:gd name="adj" fmla="val 765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207500" y="2184400"/>
            <a:ext cx="21209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≈200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9207500" y="3302000"/>
            <a:ext cx="21209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a month if 100 routine questions at 2 hours each need no specialist. An illustration.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09600" y="4902200"/>
            <a:ext cx="10795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IBM claim as reported by NextBigFuture (2020); Celent, Asia Pacific Life Insurance IT Pressures and Priorities 2026; MAS consultation (law-firm summaries, still a proposal). The 200 hours is an illustration, to be proven with AIA's own numbers.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tpk-cobalt-ingestor/video/source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pic>
        <p:nvPicPr>
          <p:cNvPr id="5" name="Image 1" descr="/Users/praveenkumarthangaraj/Documents/CobaltIngestion/tpk-cobalt-ingestor/video/source/orbit-masc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651000"/>
            <a:ext cx="4826000" cy="3309697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350000" y="1587500"/>
            <a:ext cx="5207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PROVE IT TOGETHER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6350000" y="1905000"/>
            <a:ext cx="5207000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ask </a:t>
            </a:r>
            <a:pPr indent="0" marL="0">
              <a:buNone/>
            </a:pPr>
            <a:r>
              <a:rPr lang="en-US" sz="6200" b="1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Orbit.</a:t>
            </a:r>
            <a:endParaRPr lang="en-US" sz="6200" dirty="0"/>
          </a:p>
        </p:txBody>
      </p:sp>
      <p:sp>
        <p:nvSpPr>
          <p:cNvPr id="8" name="Text 3"/>
          <p:cNvSpPr/>
          <p:nvPr/>
        </p:nvSpPr>
        <p:spPr>
          <a:xfrm>
            <a:off x="6350000" y="3937000"/>
            <a:ext cx="52070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pilot on AIA's own questions and numbers. A person always decides.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AIA Orbit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AIA Orbit: product overview</dc:title>
  <dc:subject>PptxGenJS Presentation</dc:subject>
  <dc:creator>AIA Orbit</dc:creator>
  <cp:lastModifiedBy>AIA Orbit</cp:lastModifiedBy>
  <cp:revision>1</cp:revision>
  <dcterms:created xsi:type="dcterms:W3CDTF">2026-10-28T20:03:26Z</dcterms:created>
  <dcterms:modified xsi:type="dcterms:W3CDTF">2026-10-28T20:03:26Z</dcterms:modified>
</cp:coreProperties>
</file>